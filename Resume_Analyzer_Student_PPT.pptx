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📄 Resume Analyzer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C7D2FE"/>
                </a:solidFill>
                <a:latin typeface="Calibri"/>
              </a:rPr>
              <a:t>Ek AI jo resume PADHTA hai, SAMAJHTA hai, aur job se MATCH karta 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FDE68A"/>
                </a:solidFill>
                <a:latin typeface="Calibri"/>
              </a:rPr>
              <a:t>Python  ·  Streamlit  ·  LangChain  ·  Groq (Llama 3.3 — 70B)  ·  Pydantic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Calibri"/>
              </a:rPr>
              <a:t>Har concept ko hum DIMAAG (psychology) se samjhenge — kyunki AI, insaan ke dimaag ki hi copy hai.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SLIDE 2 · THE WHY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Problem: Ek Recruiter ka Dimaag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760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buChar char="▸"/>
            </a:pPr>
            <a:r>
              <a:rPr sz="1550" b="0" i="0">
                <a:solidFill>
                  <a:srgbClr val="1F2937"/>
                </a:solidFill>
                <a:latin typeface="Calibri"/>
              </a:rPr>
              <a:t>Ek recruiter average sirf 6–7 SECONDS dekhta hai ek resume ko.</a:t>
            </a:r>
          </a:p>
          <a:p>
            <a:pPr>
              <a:spcAft>
                <a:spcPts val="700"/>
              </a:spcAft>
              <a:buChar char="▸"/>
            </a:pPr>
            <a:r>
              <a:rPr sz="1550" b="0" i="0">
                <a:solidFill>
                  <a:srgbClr val="1F2937"/>
                </a:solidFill>
                <a:latin typeface="Calibri"/>
              </a:rPr>
              <a:t>500 resumes × 7 seconds = 1 ghanta sirf 'dekhne' me. Padhna to door ki baat.</a:t>
            </a:r>
          </a:p>
          <a:p>
            <a:pPr>
              <a:spcAft>
                <a:spcPts val="700"/>
              </a:spcAft>
              <a:buChar char="▸"/>
            </a:pPr>
            <a:r>
              <a:rPr sz="1550" b="0" i="0">
                <a:solidFill>
                  <a:srgbClr val="1F2937"/>
                </a:solidFill>
                <a:latin typeface="Calibri"/>
              </a:rPr>
              <a:t>Thaka hua dimaag shortcuts leta hai → achhe candidates reject ho jaate hain.</a:t>
            </a:r>
          </a:p>
          <a:p>
            <a:pPr>
              <a:spcAft>
                <a:spcPts val="700"/>
              </a:spcAft>
              <a:buChar char="▸"/>
            </a:pPr>
            <a:r>
              <a:rPr sz="1550" b="0" i="0">
                <a:solidFill>
                  <a:srgbClr val="1F2937"/>
                </a:solidFill>
                <a:latin typeface="Calibri"/>
              </a:rPr>
              <a:t>Humara goal: ek 'digital recruiter' jo kabhi thakta nahi, har resume ko poora padhta hai, aur har baar same rules lagata hai.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34440"/>
            <a:ext cx="5303520" cy="283464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🧠 Psychology: Thin-Slicing (Snap Judgment)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Dimaag bahut kam information se turant faisla kar leta hai — ise 'thin-slicing' kehte hain.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Interview ke pehle 10 seconds me impression ban jaata hai — baaki time hum sirf usko justify karte hain.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Machine ka fayda: woh bore nahi hoti, mood kharab nahi hota, bhookh nahi lagti. Har resume ko 'fresh dimaag' milta hai.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4338CA"/>
                </a:solidFill>
                <a:latin typeface="Calibri"/>
              </a:rPr>
              <a:t>Idea 💡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Recruiter ke dimaag ke 3 kaam hote hain: (1) resume PADHNA, (2) important info YAAD rakhna, (3) JD se COMPARE karna. Humara project in teeno kaamo ko 3 alag Python files me todta hai. Chalo dekhte hain kaise.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SLIDE 3 · THE WHAT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Project Kya Karta Hai — 30 Second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97480" cy="23774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4338CA"/>
                </a:solidFill>
                <a:latin typeface="Calibri"/>
              </a:rPr>
              <a:t>1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Upload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PDF resume upload karo (sidebar 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19272" y="1371600"/>
            <a:ext cx="2697480" cy="23774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4338CA"/>
                </a:solidFill>
                <a:latin typeface="Calibri"/>
              </a:rPr>
              <a:t>2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Parse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AI resume padh kar structured data nikaalta hai: naam, email, phone, skills, education,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371600"/>
            <a:ext cx="2697480" cy="23774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4338CA"/>
                </a:solidFill>
                <a:latin typeface="Calibri"/>
              </a:rPr>
              <a:t>3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Paste JD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Job Description text paste karo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43416" y="1371600"/>
            <a:ext cx="2697480" cy="23774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4338CA"/>
                </a:solidFill>
                <a:latin typeface="Calibri"/>
              </a:rPr>
              <a:t>4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Match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0–100 score + matched skills ✅ + missing skills ❌ + strengths 💪 + gaps ⚠️ +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4338CA"/>
                </a:solidFill>
                <a:latin typeface="Calibri"/>
              </a:rPr>
              <a:t>Ek line me: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“Messy PDF”  →  “Saaf-suthra structured data”  →  “JD ke saath objective comparison”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64748B"/>
                </a:solidFill>
                <a:latin typeface="Calibri"/>
              </a:rPr>
              <a:t>Yaani: unstructured → structured → decision. Poore AI engineering ka 80% kaam yahi pattern hai — isliye ye project seekhna zaroori hai.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SLIDE 4 · THE HOW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Big Picture — Assembly 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554480"/>
            <a:ext cx="1691640" cy="1554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PDF Resume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raw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67712" y="1554480"/>
            <a:ext cx="1691640" cy="1554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4338CA"/>
                </a:solidFill>
                <a:latin typeface="Calibri"/>
              </a:rPr>
              <a:t>parser.py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text nikaalo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(aankhein)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352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15384" y="1554480"/>
            <a:ext cx="1691640" cy="155448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C2410C"/>
                </a:solidFill>
                <a:latin typeface="Calibri"/>
              </a:rPr>
              <a:t>LLM (Groq)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matlab samjho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(dimaag)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54480"/>
            <a:ext cx="1691640" cy="15544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models.py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schema me bharo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(memory)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4696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0728" y="1554480"/>
            <a:ext cx="1691640" cy="1554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4338CA"/>
                </a:solidFill>
                <a:latin typeface="Calibri"/>
              </a:rPr>
              <a:t>matcher.py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JD se compare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(judgement)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02368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1554480"/>
            <a:ext cx="1691640" cy="1554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main.py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screen pe dikhao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(chehra)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29000"/>
            <a:ext cx="11247120" cy="169164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🧠 Psychology: Division of Labour (Dimaag bhi yahi karta hai)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Tumhara dimaag bhi ek assembly line hai: aankh sirf dekhti hai, visual cortex samajhta hai, hippocampus yaad rakhta hai, prefrontal cortex faisla karta hai.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Achha code bhi aisa hi hota hai — har file ka EK kaam. Isse debugging easy: agar parsing galat hai to sirf parser.py dekho, poora project nahi.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1">
                <a:solidFill>
                  <a:srgbClr val="1F2937"/>
                </a:solidFill>
                <a:latin typeface="Calibri"/>
              </a:rPr>
              <a:t>prompts.py alag se 'instructions ki kitaab' hai — LLM ko kya bolna hai, wo yahan likha hai. (Jaise dimaag ke paas culture/training hoti hai jo batati hai kaise sochna hai.)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SLIDE 5 · STRUCTURE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5 Files, 5 Roles — Ek HR Office ki Tarah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5943600"/>
              </a:tblGrid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Body Part / Office Role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Kaam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main.py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Chehra / Receptionist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Streamlit UI — upload button, results display, user se baat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parser.py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Aankhein / Reader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PDF se text nikaalna + LLM se structured parsing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models.py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Memory ka format / Forms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Pydantic schemas — Resume, Education, Experience, JDMatchResult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prompts.py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Training / Rulebook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LLM ko diye jaane wale instructions (prompt templates)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matcher.py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Judgement / Interviewer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Parsed resume ko JD ke against score karna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1">
                <a:solidFill>
                  <a:srgbClr val="4338CA"/>
                </a:solidFill>
                <a:latin typeface="Calibri"/>
              </a:rPr>
              <a:t>Yaad rakhne ki trick: “Chehra dikhata hai, Aankhein padhti hain, Memory format sambhalti hai, Rulebook sikhaati hai, Interviewer judge karta hai.”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DEEP CONCEPT #1 · PSYCHOLOGY FIRST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Function = Dimaag ki Aadat (Habit)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669280" cy="324612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🧠 Kahneman: System 1 vs System 2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Naya kaam (pehli baar chai banana) = SLOW, poora dhyaan chahiye — ye System 2 hai.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Wahi kaam 100 baar karo → HABIT ban jaata hai: fast, automatic, bina soche — ye System 1 hai.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Function bilkul yahi hai: logic EK BAAR likho (seekhna), phir sirf naam bolo aur call karo (aadat).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Stimulus → Response:  input do → output milta hai. Andar kya hota hai, sochna nahi padta.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Isse dimaag (aur code) me jagah free hoti hai — badi problems ke liye.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88720"/>
            <a:ext cx="5394960" cy="3246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/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FDE68A"/>
                </a:solidFill>
                <a:latin typeface="Calibri"/>
              </a:rPr>
              <a:t>⌨  parser.py — 'LLM lao' ab ek aadat hai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def get_llm(model_name: str = "llama-3.3-70b-versatile",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        temperature: float = 0) -&gt; ChatGroq: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if not os.environ.get("GROQ_API_KEY"):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    raise EnvironmentError("GROQ_API_KEY is not set...")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return ChatGroq(model=model_name,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                temperature=temperature)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94A3B8"/>
                </a:solidFill>
                <a:latin typeface="Consolas"/>
              </a:rPr>
              <a:t># Poore project me ab bas itna bolo: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llm = get_llm()   # ← System 1: bina soche, ek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1772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buChar char="▸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Default arguments = aadat ki 'default setting' — jaise tum bina soche 2 chammach cheeni daalte ho. Chaho to override karo: get_llm(temperature=0.7).</a:t>
            </a:r>
          </a:p>
          <a:p>
            <a:pPr>
              <a:spcAft>
                <a:spcPts val="700"/>
              </a:spcAft>
              <a:buChar char="▸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Error check andar hi hai — aadat khud apni safety rakhti hai (jaise gaadi chalate waqt paer khud brake dhoondh leta hai).</a:t>
            </a:r>
          </a:p>
          <a:p>
            <a:pPr>
              <a:spcAft>
                <a:spcPts val="700"/>
              </a:spcAft>
              <a:buChar char="▸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Ye project me har jagah dikhega: parse_resume(), match_resume_to_jd() — har function ek 'trained habit'.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DEEP CONCEPT #2 · PSYCHOLOGY FIRST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LLM = Prediction Machine (Autocomplete Dimaag)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669280" cy="315468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🧠 Predictive Processing: Dimaag bhi guess karta hai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Padho: “Twinkle twinkle little ____” — tumhare dimaag ne 'star' bola, tumse poocha bhi nahi. Kyun? Kyunki usne ye pattern hazaar baar dekha hai.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Neuroscience kehti hai: dimaag ek 'prediction machine' hai — har second agla word, agli awaaz, agla scene guess karta rehta hai.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LLM exactly wahi hai: arabon sentences padh kar, agla word predict karta hai — bas itni si baat. Lekin scale itna bada hai ki 'samajhna' emerge ho jaata hai.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Llama 3.3 me 70 BILLION parameters hain — jaise dimaag ke synapses (connections).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88720"/>
            <a:ext cx="5394960" cy="3154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/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FDE68A"/>
                </a:solidFill>
                <a:latin typeface="Calibri"/>
              </a:rPr>
              <a:t>⌨  Groq = ye dimaag super-fast chips pe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from langchain_groq import ChatGroq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llm = ChatGroq(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    model="llama-3.3-70b-versatile",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    temperature=0,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Groq = LPU chips → jawab seconds me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(GPU se kaafi fast inference)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526280"/>
            <a:ext cx="11247120" cy="169164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🧠 temperature = 0 → 'Exam-mode dimaag'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temperature dimaag ka MOOD hai. 0 = exam mode: sirf sabse-pakka jawab, har baar same (deterministic). 1 = shayari mode: creative, har baar alag.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Resume parsing me creativity NAHI chahiye — humein facts chahiye, imagination nahi. Isliye 0. (Story-writer bana rahe hote to 0.8 rakhte.)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DEEP CONCEPT #3 · PSYCHOLOGY FIRST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PDF Padhna = Aankhein (Sensation vs Perception)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669280" cy="301752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🧠 Psychology: Dekhna ≠ Samajhna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Aankh sirf ROSHNI pakadti hai (sensation) — raw signals, koi matlab nahi.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MATLAB dimaag banata hai (perception). Isliye optical illusions hoti hain — aankh sahi thi, dimaag ne galat samjha!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Humare project me bhi ye 2 alag steps hain: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PyPDFLoader = AANKH → PDF se raw text nikaalta hai, bina kuch samjhe.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LLM = PERCEPTION → us raw text me se naam, skills, experience ka MATLAB nikaalta hai.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88720"/>
            <a:ext cx="5394960" cy="3017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/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FDE68A"/>
                </a:solidFill>
                <a:latin typeface="Calibri"/>
              </a:rPr>
              <a:t>⌨  parser.py — sirf 'dekhna', samajhna nahi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from langchain_community.document_loaders \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import PyPDFLoader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def load_resume_text_from_path(pdf_path):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loader = PyPDFLoader(pdf_path)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docs = loader.load()   # har page ek doc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return "\n".join(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    doc.page_content for doc in docs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)   # sab pages ka text joda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buChar char="▸"/>
            </a:pPr>
            <a:r>
              <a:rPr sz="1450" b="0" i="0">
                <a:solidFill>
                  <a:srgbClr val="1F2937"/>
                </a:solidFill>
                <a:latin typeface="Calibri"/>
              </a:rPr>
              <a:t>Streamlit se aaye bytes ke liye: load_resume_text_from_bytes() — bytes ko temp file me likho → padho → temp file delete (finally block me — safai ki aadat!).</a:t>
            </a:r>
          </a:p>
          <a:p>
            <a:pPr>
              <a:spcAft>
                <a:spcPts val="700"/>
              </a:spcAft>
              <a:buChar char="▸"/>
            </a:pPr>
            <a:r>
              <a:rPr sz="1450" b="0" i="0">
                <a:solidFill>
                  <a:srgbClr val="1F2937"/>
                </a:solidFill>
                <a:latin typeface="Calibri"/>
              </a:rPr>
              <a:t>Is stage ka output bas ek LAMBA STRING hai — messy, unordered. Jaise aankh se aaya raw signal.</a:t>
            </a:r>
          </a:p>
          <a:p>
            <a:pPr>
              <a:spcAft>
                <a:spcPts val="700"/>
              </a:spcAft>
              <a:buChar char="▸"/>
            </a:pPr>
            <a:r>
              <a:rPr sz="1450" b="0" i="0">
                <a:solidFill>
                  <a:srgbClr val="1F2937"/>
                </a:solidFill>
                <a:latin typeface="Calibri"/>
              </a:rPr>
              <a:t>Agla step: is raw signal ko 'perception' dena — LLM + schema se. (Agli slide!)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DEEP CONCEPT #4 · PSYCHOLOGY FIRST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Pydantic Model = Schema (Dimaag ka Template)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669280" cy="329184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🧠 Piaget: Schema Theory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Dimaag har concept ko TEMPLATE me store karta hai. 'Restaurant' socho → menu, waiter, table, bill apne aap aa gaye. Ye template = SCHEMA.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Naye restaurant me bhi tum confuse nahi hote — purana template naye data se FILL ho jaata hai.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Pydantic model machine ka schema hai: pehle se tay ki 'Resume' me kya-kya hota hai.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Aur schema VALIDATE bhi karta hai: restaurant me haathi dikhe to dimaag chaunk jaata hai — 'ye template me fit nahi hota!' Waise hi gpa=15 aaya to Pydantic error dega (le=10).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88720"/>
            <a:ext cx="5394960" cy="3520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/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FDE68A"/>
                </a:solidFill>
                <a:latin typeface="Calibri"/>
              </a:rPr>
              <a:t>⌨  models.py — Resume ka 'mental template'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class Resume(BaseModel):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name: str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email: str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phone_number: str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education: Optional[List[Education]]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experience: Optional[List[Experience]]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skills: Optional[List[str]]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class Education(BaseModel):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university_name: str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degree: str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gpa: Optional[float] = Field(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    default=None, ge=0, le=10)  # ← guard!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buChar char="▸"/>
            </a:pPr>
            <a:r>
              <a:rPr sz="1450" b="0" i="0">
                <a:solidFill>
                  <a:srgbClr val="1F2937"/>
                </a:solidFill>
                <a:latin typeface="Calibri"/>
              </a:rPr>
              <a:t>Optional = 'ho to batao, na ho to None' — jaise har restaurant me AC nahi hota, template phir bhi kaam karta hai.</a:t>
            </a:r>
          </a:p>
          <a:p>
            <a:pPr>
              <a:spcAft>
                <a:spcPts val="700"/>
              </a:spcAft>
              <a:buChar char="▸"/>
            </a:pPr>
            <a:r>
              <a:rPr sz="1450" b="0" i="0">
                <a:solidFill>
                  <a:srgbClr val="1F2937"/>
                </a:solidFill>
                <a:latin typeface="Calibri"/>
              </a:rPr>
              <a:t>Field(description=...) sirf documentation nahi hai — ye LLM ko BHEJA jaata hai, taaki wo samjhe har khaane (field) me kya bharna hai!</a:t>
            </a:r>
          </a:p>
          <a:p>
            <a:pPr>
              <a:spcAft>
                <a:spcPts val="700"/>
              </a:spcAft>
              <a:buChar char="▸"/>
            </a:pPr>
            <a:r>
              <a:rPr sz="1450" b="0" i="0">
                <a:solidFill>
                  <a:srgbClr val="1F2937"/>
                </a:solidFill>
                <a:latin typeface="Calibri"/>
              </a:rPr>
              <a:t>Fayda: aage code me resume.name, resume.skills — autocomplete, type-checking, koi KeyError nahi.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DEEP CONCEPT #5 · PSYCHOLOGY FIRST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Prompt = Priming (Sawaal ka Frame, Jawab Badal Deta Hai)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669280" cy="320040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🧠 Framing &amp; Priming Effect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“Operation me 90% log bach jaate hain” vs “10% log mar jaate hain” — SAME fact, lekin faisla badal jaata hai. Ye framing effect hai.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Priming: doctor ka coat pehna do to insaan zyada carefully kaam karta hai. ROLE dimaag ka behaviour badal deta hai.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LLM ke saath bhi same: “You are an expert Resume Parser” — role de diya, ab wo expert ki tarah respond karega.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“Do not invent information” = hallucination ke khilaaf guard — LLM ko imagine karne se roka.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88720"/>
            <a:ext cx="5394960" cy="3474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/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FDE68A"/>
                </a:solidFill>
                <a:latin typeface="Calibri"/>
              </a:rPr>
              <a:t>⌨  prompts.py — LLM ko 'prime' karna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resume_template = """You are an expert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Resume Parser.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Extract ONLY the information defined in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the Resume schema from the resume text.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If any information is missing, return null.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Do not invent information.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Resume: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{resume_text}"""        # ← placeholder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resume_prompt = PromptTemplate(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template=resume_template,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input_variables=["resume_text"])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buChar char="▸"/>
            </a:pPr>
            <a:r>
              <a:rPr sz="1450" b="0" i="0">
                <a:solidFill>
                  <a:srgbClr val="1F2937"/>
                </a:solidFill>
                <a:latin typeface="Calibri"/>
              </a:rPr>
              <a:t>PromptTemplate = fill-in-the-blanks wala letter: {resume_text} har baar naye resume se replace hota hai — instructions same, data naya.</a:t>
            </a:r>
          </a:p>
          <a:p>
            <a:pPr>
              <a:spcAft>
                <a:spcPts val="700"/>
              </a:spcAft>
              <a:buChar char="▸"/>
            </a:pPr>
            <a:r>
              <a:rPr sz="1450" b="0" i="0">
                <a:solidFill>
                  <a:srgbClr val="1F2937"/>
                </a:solidFill>
                <a:latin typeface="Calibri"/>
              </a:rPr>
              <a:t>3 prompt-engineering rules yahan dikh rahe hain: (1) Role do, (2) Boundaries do ('ONLY', 'Do not invent'), (3) Missing data ka rule do (null return karo).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DEEP CONCEPT #6 · PSYCHOLOGY FIRST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Structured Output = Form Bharwana (Cued Recall)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669280" cy="310896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🧠 Free Recall vs Cued Recall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Poochho: “Kal kya-kya kiya?” → bikhri hui, aadhi-adhoori kahani milegi. Ye FREE RECALL hai — dimaag ke liye mushkil.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Ab ek FORM do: 'Subah kya khaya? __  Kahan gaye? __' → poora, organized jawab milega. Ye CUED RECALL hai — cues yaaddasht ko kheench late hain.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LLM se essay maangoge to har baar alag format milega — code usse parse nahi kar payega.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with_structured_output() LLM ko FORM deta hai (Resume schema) — ab jawab hamesha usi format me aayega. Guaranteed.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88720"/>
            <a:ext cx="5394960" cy="3108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/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FDE68A"/>
                </a:solidFill>
                <a:latin typeface="Calibri"/>
              </a:rPr>
              <a:t>⌨  parser.py — essay nahi, form bharo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structured_llm = llm.with_structured_output(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    Resume,                     # ← form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    method="function_calling",  # ← technique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Ab output string nahi,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seedha Resume OBJECT aayega: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  result.name, result.skills, ...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JSON parse karne ka jhanjhat khatam.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buChar char="▸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'function_calling' andar kya karta hai: schema ko ek 'function signature' bana kar LLM ko bhejta hai; LLM us function ke arguments (JSON) bharta hai; LangChain us JSON ko Pydantic object me badal deta hai.</a:t>
            </a:r>
          </a:p>
          <a:p>
            <a:pPr>
              <a:spcAft>
                <a:spcPts val="700"/>
              </a:spcAft>
              <a:buChar char="▸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Ye teeno judte hain: models.py (form ka design) + prompts.py (bharne ke instructions) + LLM (bharne wala).</a:t>
            </a:r>
          </a:p>
          <a:p>
            <a:pPr>
              <a:spcAft>
                <a:spcPts val="700"/>
              </a:spcAft>
              <a:buChar char="▸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Interview question: “LLM se reliable JSON kaise nikaalte ho?” — ab tumhare paas jawab hai. 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DEEP CONCEPT #7 · PSYCHOLOGY FIRST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Chain ( | ) = Vichaaron ki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669280" cy="292608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🧠 Associative Chaining: Ek Thought → Agla Thought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Purana gaana suna → college ki yaad aayi → dost ka chehra dikha → phone uthaya. Dimaag me thoughts CHAIN me chalte hain — har output agle ka input.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Tumne 'call karna' plan nahi kiya tha — chain ne khud pahunchaya!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LangChain ka naam hi isi se hai: chhote-chhote steps ko JODNA.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'|' (pipe) operator = 'iska output, uska input': prompt banega → seedha LLM me jayega → structured object niklega.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88720"/>
            <a:ext cx="53949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/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FDE68A"/>
                </a:solidFill>
                <a:latin typeface="Calibri"/>
              </a:rPr>
              <a:t>⌨  parser.py — poori soch ek line me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chain = resume_prompt | structured_llm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      ─────────────   ──────────────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      pehle prompt     phir LLM+form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result: Resume = chain.invoke(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    {"resume_text": resume_text}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invoke = pipeline ka START button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4338CA"/>
                </a:solidFill>
                <a:latin typeface="Calibri"/>
              </a:rPr>
              <a:t>Data ka safar is chain me:</a:t>
            </a:r>
          </a:p>
          <a:p>
            <a:pPr>
              <a:spcAft>
                <a:spcPts val="800"/>
              </a:spcAft>
            </a:pPr>
            <a:r>
              <a:rPr sz="1450" b="0" i="0">
                <a:solidFill>
                  <a:srgbClr val="1F2937"/>
                </a:solidFill>
                <a:latin typeface="Consolas"/>
              </a:rPr>
              <a:t>{"resume_text": "..."}   →   PromptTemplate (blanks bhare)   →   full prompt string   →   LLM (Groq)   →   JSON   →   Resume object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64748B"/>
                </a:solidFill>
                <a:latin typeface="Calibri"/>
              </a:rPr>
              <a:t>Fayda: kal ko beech me ek aur step daalna ho (jaise text saaf karna) to sirf pipe me joed do — baaki code untouched. Modular soch, modular 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CODE WALKTHROUGH · SAB CONCEPTS EK SAATH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parser.py — Poora Function, Line by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126480" cy="32918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/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FDE68A"/>
                </a:solidFill>
                <a:latin typeface="Calibri"/>
              </a:rPr>
              <a:t>⌨  parse_resume() — sirf 5 lines me poora dimaag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def parse_resume(resume_text: str,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             llm: ChatGroq | None = None) -&gt; Resume: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llm = llm or get_llm()          # habit reuse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structured_llm = llm.with_structured_output(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    Resume, method="function_calling")  # form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chain = resume_prompt | structured_llm  # pipeline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result: Resume = chain.invoke(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    {"resume_text": resume_text})       # start!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return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2280" y="12344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buChar char="▸"/>
            </a:pPr>
            <a:r>
              <a:rPr sz="1350" b="0" i="0">
                <a:solidFill>
                  <a:srgbClr val="1F2937"/>
                </a:solidFill>
                <a:latin typeface="Calibri"/>
              </a:rPr>
              <a:t>llm or get_llm() — agar caller ne LLM diya to wahi, warna default aadat. (Testing me nakli LLM de sakte ho!)</a:t>
            </a:r>
          </a:p>
          <a:p>
            <a:pPr>
              <a:spcAft>
                <a:spcPts val="700"/>
              </a:spcAft>
              <a:buChar char="▸"/>
            </a:pPr>
            <a:r>
              <a:rPr sz="1350" b="0" i="0">
                <a:solidFill>
                  <a:srgbClr val="1F2937"/>
                </a:solidFill>
                <a:latin typeface="Calibri"/>
              </a:rPr>
              <a:t>Ye 5 lines = 4 psychology concepts: habit + priming + form + chain.</a:t>
            </a:r>
          </a:p>
          <a:p>
            <a:pPr>
              <a:spcAft>
                <a:spcPts val="700"/>
              </a:spcAft>
              <a:buChar char="▸"/>
            </a:pPr>
            <a:r>
              <a:rPr sz="1350" b="0" i="0">
                <a:solidFill>
                  <a:srgbClr val="1F2937"/>
                </a:solidFill>
                <a:latin typeface="Calibri"/>
              </a:rPr>
              <a:t>Type hints (-&gt; Resume) = promise: 'main hamesha Resume object hi lautaunga.'</a:t>
            </a:r>
          </a:p>
          <a:p>
            <a:pPr>
              <a:spcAft>
                <a:spcPts val="700"/>
              </a:spcAft>
              <a:buChar char="▸"/>
            </a:pPr>
            <a:r>
              <a:rPr sz="1350" b="0" i="0">
                <a:solidFill>
                  <a:srgbClr val="1F2937"/>
                </a:solidFill>
                <a:latin typeface="Calibri"/>
              </a:rPr>
              <a:t>parse_resume_from_path() = 2 habits ka combo: pehle padho, phir parse karo.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663440"/>
            <a:ext cx="11247120" cy="160020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🧠 Chunking: Expert aise hi bante hain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Chess master board ko 'mohron ka dher' nahi, 'attack pattern' dekhta hai — chhoti cheezein CHUNK ban jaati hain. Tumhare liye ab ye 5 lines '5 alag cheezein' nahi — EK chunk hai: 'LLM se structured parsing'. Yahi expertise hai.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Ab tum ye chunk kisi bhi project me utha ke laga sakte ho: invoice parser, medical report parser, legal doc parser — bas schema aur prompt badlo!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CODE WALKTHROUGH · JUDGEMENT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matcher.py — Digital Interviewer (Comparison)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669280" cy="301752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🧠 Feature Matching: Recruiter ka mental checklist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Recruiter JD padhta hai → dimaag me checklist banti hai: Python? ✓  SQL? ✗  3 saal ka experience? ✓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Har tick/cross ek FEATURE MATCH hai. Score = kitne ticks mile.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Machine ye zyada imandaari se karti hai: use candidate ki photo, college ka naam, ya handwriting bias nahi karti — sirf data.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Lekin dhyaan: LLM ka score bhi 100% objective nahi — wo bhi apne training-bias ke saath aata hai. Isliye score ko GUIDE maano, final judge nahi.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88720"/>
            <a:ext cx="5394960" cy="3017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/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FDE68A"/>
                </a:solidFill>
                <a:latin typeface="Calibri"/>
              </a:rPr>
              <a:t>⌨  matcher.py — same pattern, naya form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def match_resume_to_jd(resume: Resume,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    jd_text: str, llm=None) -&gt; JDMatchResult: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llm = llm or get_llm()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structured_llm = llm.with_structured_output(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    JDMatchResult, method="function_calling")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chain = jd_match_prompt | structured_llm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return chain.invoke({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    "jd_text": jd_text,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    "resume_json":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        resume.model_dump_json(indent=2),</a:t>
            </a:r>
          </a:p>
          <a:p>
            <a:pPr>
              <a:spcAft>
                <a:spcPts val="100"/>
              </a:spcAft>
            </a:pPr>
            <a:r>
              <a:rPr sz="1100" b="0" i="0">
                <a:solidFill>
                  <a:srgbClr val="A7F3D0"/>
                </a:solidFill>
                <a:latin typeface="Consolas"/>
              </a:rPr>
              <a:t>    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348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buChar char="▸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Dhyan do — SAME 4-step pattern hai jo parser me tha! Sirf form badla (JDMatchResult) aur prompt badla. Pattern ek baar samjho, har jagah use karo.</a:t>
            </a:r>
          </a:p>
          <a:p>
            <a:pPr>
              <a:spcAft>
                <a:spcPts val="700"/>
              </a:spcAft>
              <a:buChar char="▸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model_dump_json() — structured Resume object ko wapas JSON text me badla, kyunki LLM sirf TEXT samajhta hai. (Dimaag ko yaad sunani ho to bolna padta hai!)</a:t>
            </a:r>
          </a:p>
          <a:p>
            <a:pPr>
              <a:spcAft>
                <a:spcPts val="700"/>
              </a:spcAft>
              <a:buChar char="▸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JDMatchResult form ke khaane: match_score (0–100, validated!), matched_skills, missing_skills, strengths, gaps, summary.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DEEP CONCEPT #8 · PSYCHOLOGY FIRST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main.py — UI + Session State = Working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669280" cy="310896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🧠 Working Memory vs Amnesia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Working memory = dimaag ka 'abhi-wala' scratchpad — phone number sunte hi dial karna.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Ab imagine karo: HAR PALAK jhapkane pe sab bhool jaate! Movie 'Ghajini' jaisa. Kaam karna impossible.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Streamlit ki quirk yahi hai: HAR click pe poori script dobara chalti hai — sab variables reset! (Har interaction pe amnesia.)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st.session_state = Ghajini ki tattoo/photos — bahar likh kar rakho, taaki reload ke baad bhi yaad rahe.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88720"/>
            <a:ext cx="5394960" cy="3108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/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FDE68A"/>
                </a:solidFill>
                <a:latin typeface="Calibri"/>
              </a:rPr>
              <a:t>⌨  main.py — yaaddasht bachana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if "resume" not in st.session_state: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st.session_state.resume = None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94A3B8"/>
                </a:solidFill>
                <a:latin typeface="Consolas"/>
              </a:rPr>
              <a:t># Parse hone ke baad — likh ke rakho: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st.session_state.resume = resume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st.session_state.match_result = None  # purana match hatao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94A3B8"/>
                </a:solidFill>
                <a:latin typeface="Consolas"/>
              </a:rPr>
              <a:t># UI: score dikhana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st.metric("Match Score",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A7F3D0"/>
                </a:solidFill>
                <a:latin typeface="Consolas"/>
              </a:rPr>
              <a:t>    f"{match_result.match_score:.0f}/100")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buChar char="▸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Flow: sidebar me file_uploader → 'Parse Resume' button → spinner ke saath parsing → session_state me save → main area me display.</a:t>
            </a:r>
          </a:p>
          <a:p>
            <a:pPr>
              <a:spcAft>
                <a:spcPts val="700"/>
              </a:spcAft>
              <a:buChar char="▸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Naya resume aate hi match_result = None — kyunki purane resume ka score naye pe lagana galat hoga. (Memory ko clean rakhna bhi ek skill hai!)</a:t>
            </a:r>
          </a:p>
          <a:p>
            <a:pPr>
              <a:spcAft>
                <a:spcPts val="700"/>
              </a:spcAft>
              <a:buChar char="▸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st.expander('Raw JSON') — parda utha ke dekho LLM ne exactly kya bhara. Debugging ke liye best friend.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SLIDE 16 · SAB KUCH EK SAATH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Ek Resume ka Poora Safar — Recap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8016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303520"/>
                <a:gridCol w="3474720"/>
              </a:tblGrid>
              <a:tr h="538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System me kya hota hai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Psychology concept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1F2937"/>
                          </a:solidFill>
                        </a:defRPr>
                      </a:pPr>
                      <a:r>
                        <a:t>1. Upload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1F2937"/>
                          </a:solidFill>
                        </a:defRPr>
                      </a:pPr>
                      <a:r>
                        <a:t>User PDF deta hai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1">
                          <a:solidFill>
                            <a:srgbClr val="C2410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1F2937"/>
                          </a:solidFill>
                        </a:defRPr>
                      </a:pPr>
                      <a:r>
                        <a:t>2. Aankhein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1F2937"/>
                          </a:solidFill>
                        </a:defRPr>
                      </a:pPr>
                      <a:r>
                        <a:t>PyPDFLoader raw text nikaalta hai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1">
                          <a:solidFill>
                            <a:srgbClr val="C2410C"/>
                          </a:solidFill>
                        </a:defRPr>
                      </a:pPr>
                      <a:r>
                        <a:t>Sensation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1F2937"/>
                          </a:solidFill>
                        </a:defRPr>
                      </a:pPr>
                      <a:r>
                        <a:t>3. Priming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1F2937"/>
                          </a:solidFill>
                        </a:defRPr>
                      </a:pPr>
                      <a:r>
                        <a:t>Prompt LLM ko expert-role deta hai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1">
                          <a:solidFill>
                            <a:srgbClr val="C2410C"/>
                          </a:solidFill>
                        </a:defRPr>
                      </a:pPr>
                      <a:r>
                        <a:t>Framing / Priming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1F2937"/>
                          </a:solidFill>
                        </a:defRPr>
                      </a:pPr>
                      <a:r>
                        <a:t>4. Samajhna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1F2937"/>
                          </a:solidFill>
                        </a:defRPr>
                      </a:pPr>
                      <a:r>
                        <a:t>LLM text ka matlab nikaalta hai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1">
                          <a:solidFill>
                            <a:srgbClr val="C2410C"/>
                          </a:solidFill>
                        </a:defRPr>
                      </a:pPr>
                      <a:r>
                        <a:t>Perception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1F2937"/>
                          </a:solidFill>
                        </a:defRPr>
                      </a:pPr>
                      <a:r>
                        <a:t>5. Form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1F2937"/>
                          </a:solidFill>
                        </a:defRPr>
                      </a:pPr>
                      <a:r>
                        <a:t>Resume schema me data bharta hai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1">
                          <a:solidFill>
                            <a:srgbClr val="C2410C"/>
                          </a:solidFill>
                        </a:defRPr>
                      </a:pPr>
                      <a:r>
                        <a:t>Schema + Cued Recall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1F2937"/>
                          </a:solidFill>
                        </a:defRPr>
                      </a:pPr>
                      <a:r>
                        <a:t>6. Yaad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1F2937"/>
                          </a:solidFill>
                        </a:defRPr>
                      </a:pPr>
                      <a:r>
                        <a:t>session_state me save hota hai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1">
                          <a:solidFill>
                            <a:srgbClr val="C2410C"/>
                          </a:solidFill>
                        </a:defRPr>
                      </a:pPr>
                      <a:r>
                        <a:t>Working Memory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1F2937"/>
                          </a:solidFill>
                        </a:defRPr>
                      </a:pPr>
                      <a:r>
                        <a:t>7. Checklist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1F2937"/>
                          </a:solidFill>
                        </a:defRPr>
                      </a:pPr>
                      <a:r>
                        <a:t>JD se compare — score, skills, gaps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1">
                          <a:solidFill>
                            <a:srgbClr val="C2410C"/>
                          </a:solidFill>
                        </a:defRPr>
                      </a:pPr>
                      <a:r>
                        <a:t>Feature Matching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1F2937"/>
                          </a:solidFill>
                        </a:defRPr>
                      </a:pPr>
                      <a:r>
                        <a:t>8. Faisla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1F2937"/>
                          </a:solidFill>
                        </a:defRPr>
                      </a:pPr>
                      <a:r>
                        <a:t>Insaan score dekh ke final decision leta hai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1">
                          <a:solidFill>
                            <a:srgbClr val="C2410C"/>
                          </a:solidFill>
                        </a:defRPr>
                      </a:pPr>
                      <a:r>
                        <a:t>Human-in-the-loop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SLIDE 17 · HANDS-ON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Chalane ka Tareeka — Live Demo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126480" cy="4023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/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FDE68A"/>
                </a:solidFill>
                <a:latin typeface="Calibri"/>
              </a:rPr>
              <a:t>⌨  Terminal me — 4 steps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1. Virtual environment (alag kamra banao)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python3 -m venv .venv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source .venv/bin/activate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2. Dependencies (auzaar lao)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pip install -r requirements.txt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3. API key (dimaag ki chaabi) — FREE hai!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   console.groq.com/keys se lo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cp .env.example .env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   .env me: GROQ_API_KEY=gsk_...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4. App chalao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A7F3D0"/>
                </a:solidFill>
                <a:latin typeface="Consolas"/>
              </a:rPr>
              <a:t>streamlit run main.py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#    → http://localhost:8501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2280" y="128016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buChar char="▸"/>
            </a:pPr>
            <a:r>
              <a:rPr sz="1350" b="0" i="0">
                <a:solidFill>
                  <a:srgbClr val="1F2937"/>
                </a:solidFill>
                <a:latin typeface="Calibri"/>
              </a:rPr>
              <a:t>UI ke bina bhi test kar sakte ho (CLI): python parser.py resume.pdf</a:t>
            </a:r>
          </a:p>
          <a:p>
            <a:pPr>
              <a:spcAft>
                <a:spcPts val="700"/>
              </a:spcAft>
              <a:buChar char="▸"/>
            </a:pPr>
            <a:r>
              <a:rPr sz="1350" b="0" i="0">
                <a:solidFill>
                  <a:srgbClr val="1F2937"/>
                </a:solidFill>
                <a:latin typeface="Calibri"/>
              </a:rPr>
              <a:t>.env file kabhi GitHub pe push MAT karna — chaabi hai, sabko mat do! (.env.example isliye alag hai.)</a:t>
            </a:r>
          </a:p>
          <a:p>
            <a:pPr>
              <a:spcAft>
                <a:spcPts val="700"/>
              </a:spcAft>
              <a:buChar char="▸"/>
            </a:pPr>
            <a:r>
              <a:rPr sz="1350" b="0" i="0">
                <a:solidFill>
                  <a:srgbClr val="1F2937"/>
                </a:solidFill>
                <a:latin typeface="Calibri"/>
              </a:rPr>
              <a:t>venv kyun? Taaki is project ke packages doosre projects se na ladein — har project ka apna kamra.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4114800"/>
            <a:ext cx="4937760" cy="201168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🧠 Demo Tip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Class me pehle APNA resume upload karo — jab students apni info parse hoti dekhte hain, dopamine hit milta hai. Personal cheez = 10x attention (self-reference effect)!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SLIDE 18 · IDEAS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Homework: Isse Aage Kya Bana Sakte Ho?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6424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⭐ Easy 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temperature=0.8 karke dekho — kya score har baar badalta hai? Kyun?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106424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⭐ Easy 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Ek naya field jodo: linkedin_url ya languages — sirf models.py badlega, magic dekho!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1106424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Calibri"/>
              </a:rPr>
              <a:t>⭐⭐ Medium 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Multiple resumes upload karo → sabko ek JD pe rank karo (leaderboard).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1106424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Calibri"/>
              </a:rPr>
              <a:t>⭐⭐ Medium 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Gaps se automatic interview questions banwao — naya prompt + naya schema.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937760"/>
            <a:ext cx="1106424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B91C1C"/>
                </a:solidFill>
                <a:latin typeface="Calibri"/>
              </a:rPr>
              <a:t>⭐⭐⭐ Hard 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DOCX support jodo, results database me save karo, ya cover-letter generator banao.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704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 i="1">
                <a:solidFill>
                  <a:srgbClr val="4338CA"/>
                </a:solidFill>
                <a:latin typeface="Calibri"/>
              </a:rPr>
              <a:t>Yaad rakho: parser ka 4-step pattern (prompt → schema → chain → invoke) kisi BHI document pe chalta hai — invoice, medical report, legal contract. Ek pattern, hazaar projects.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7D2FE"/>
                </a:solidFill>
                <a:latin typeface="Calibri"/>
              </a:rPr>
              <a:t>SLIDE 19 · YAAD RAKHNE KE LIYE BAS YE</a:t>
            </a:r>
          </a:p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Cheat Sheet: Code ↔ Dimaag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📄 Resume Analyzer — Python · Streamlit · LangChain · Groq        |        19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926080"/>
                <a:gridCol w="530352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 cheez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Dimaag ki cheez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Ek line me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Function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Habit (System 1)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Ek baar seekho, baar-baar bina soche use karo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LLM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Prediction machine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Agla word guess karne wala arabon-vakyon-ka-padha dimaag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temperature=0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Exam mode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Creativity band, sirf pakka jawab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PyPDFLoader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Aankhein (sensation)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Sirf raw text dekhna, samajhna nahi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Pydantic model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Schema (template)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Pehle se tay format jisme info bharti hai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Prompt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Priming / framing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Role + rules do, waisa hi jawab milega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with_structured_output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Form (cued recall)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Essay nahi — form bharwao, format guaranteed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chain = a | b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Thought pipeline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Ek step ka output, agle ka input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st.session_state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Working memory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Reload-amnesia se bachne ki notebook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Shukriya! 🙏</a:t>
            </a:r>
          </a:p>
          <a:p>
            <a:pPr>
              <a:spcAft>
                <a:spcPts val="400"/>
              </a:spcAft>
            </a:pPr>
            <a:r>
              <a:rPr sz="2000" b="0" i="0">
                <a:solidFill>
                  <a:srgbClr val="C7D2FE"/>
                </a:solidFill>
                <a:latin typeface="Calibri"/>
              </a:rPr>
              <a:t>Aaj tumne sirf ek project nahi seekha —</a:t>
            </a:r>
          </a:p>
          <a:p>
            <a:pPr>
              <a:spcAft>
                <a:spcPts val="1800"/>
              </a:spcAft>
            </a:pPr>
            <a:r>
              <a:rPr sz="2000" b="0" i="0">
                <a:solidFill>
                  <a:srgbClr val="C7D2FE"/>
                </a:solidFill>
                <a:latin typeface="Calibri"/>
              </a:rPr>
              <a:t>tumne seekha ki AI systems apne hi DIMAAG ke patterns pe bante hain.</a:t>
            </a:r>
          </a:p>
          <a:p>
            <a:pPr>
              <a:spcAft>
                <a:spcPts val="1800"/>
              </a:spcAft>
            </a:pPr>
            <a:r>
              <a:rPr sz="1600" b="1" i="0">
                <a:solidFill>
                  <a:srgbClr val="FDE68A"/>
                </a:solidFill>
                <a:latin typeface="Calibri"/>
              </a:rPr>
              <a:t>Habit → Function   |   Schema → Pydantic   |   Priming → Prompt   |   Pipeline → Chain</a:t>
            </a:r>
          </a:p>
          <a:p>
            <a:pPr>
              <a:spcAft>
                <a:spcPts val="600"/>
              </a:spcAft>
            </a:pPr>
            <a:r>
              <a:rPr sz="1700" b="0" i="1">
                <a:solidFill>
                  <a:srgbClr val="94A3B8"/>
                </a:solidFill>
                <a:latin typeface="Calibri"/>
              </a:rPr>
              <a:t>Sawaal? Ab poochho — kyunki sawaal hi dimaag ka 'invoke()' hai. 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